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q1it_iw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0"/>
            <a:ext cx="41148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502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77777"/>
                </a:solidFill>
              </a:rPr>
              <a:t>DIGITAL COMPASS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4572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App Educativa de Comercio Exterior con Gamificación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718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C8C8C8"/>
                </a:solidFill>
              </a:rPr>
              <a:t>Cliente - Comercio Exterior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11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77777"/>
                </a:solidFill>
              </a:rPr>
              <a:t>05 de mayo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2296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Entendemos tu reto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8046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C8C8C8"/>
                </a:solidFill>
              </a:rPr>
              <a:t>El sector de comercio exterior carece de herramientas de aprendizaje </a:t>
            </a:r>
            <a:r>
              <a:rPr sz="1900" b="1" i="1">
                <a:solidFill>
                  <a:srgbClr val="E8E8E8"/>
                </a:solidFill>
              </a:rPr>
              <a:t>dinámicas y accesibles</a:t>
            </a:r>
            <a:r>
              <a:rPr sz="1900" b="0" i="0">
                <a:solidFill>
                  <a:srgbClr val="C8C8C8"/>
                </a:solidFill>
              </a:rPr>
              <a:t>. Profesionales y estudiantes dependen de materiales aburridos y estáticos. Hay un </a:t>
            </a:r>
            <a:r>
              <a:rPr sz="1900" b="1" i="1">
                <a:solidFill>
                  <a:srgbClr val="E8E8E8"/>
                </a:solidFill>
              </a:rPr>
              <a:t>océano azul</a:t>
            </a:r>
            <a:r>
              <a:rPr sz="1900" b="0" i="0">
                <a:solidFill>
                  <a:srgbClr val="C8C8C8"/>
                </a:solidFill>
              </a:rPr>
              <a:t> en educación gamificada para aduana y logística — nadie lo tiene.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2296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Lo que proponemos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81328"/>
            <a:ext cx="1371600" cy="36576"/>
          </a:xfrm>
          <a:prstGeom prst="rect">
            <a:avLst/>
          </a:prstGeom>
          <a:solidFill>
            <a:srgbClr val="777777"/>
          </a:solidFill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8C8C8"/>
                </a:solidFill>
              </a:rPr>
              <a:t>  App </a:t>
            </a:r>
            <a:r>
              <a:rPr sz="1700" b="1" i="1">
                <a:solidFill>
                  <a:srgbClr val="E8E8E8"/>
                </a:solidFill>
              </a:rPr>
              <a:t>estilo Duolingo</a:t>
            </a:r>
            <a:r>
              <a:rPr sz="1700" b="0" i="0">
                <a:solidFill>
                  <a:srgbClr val="C8C8C8"/>
                </a:solidFill>
              </a:rPr>
              <a:t> especializada en comercio exterior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85416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8C8C8"/>
                </a:solidFill>
              </a:rPr>
              <a:t>  Módulos independientes con </a:t>
            </a:r>
            <a:r>
              <a:rPr sz="1700" b="1" i="1">
                <a:solidFill>
                  <a:srgbClr val="E8E8E8"/>
                </a:solidFill>
              </a:rPr>
              <a:t>contenido fresco cada 30 días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7919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8C8C8"/>
                </a:solidFill>
              </a:rPr>
              <a:t>  </a:t>
            </a:r>
            <a:r>
              <a:rPr sz="1700" b="1" i="1">
                <a:solidFill>
                  <a:srgbClr val="E8E8E8"/>
                </a:solidFill>
              </a:rPr>
              <a:t>Certificación con valor curricular</a:t>
            </a:r>
            <a:r>
              <a:rPr sz="1700" b="0" i="0">
                <a:solidFill>
                  <a:srgbClr val="C8C8C8"/>
                </a:solidFill>
              </a:rPr>
              <a:t> al completar cada módulo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7296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8C8C8"/>
                </a:solidFill>
              </a:rPr>
              <a:t>  MVP </a:t>
            </a:r>
            <a:r>
              <a:rPr sz="1700" b="1" i="1">
                <a:solidFill>
                  <a:srgbClr val="E8E8E8"/>
                </a:solidFill>
              </a:rPr>
              <a:t>visualmente atractivo</a:t>
            </a:r>
            <a:r>
              <a:rPr sz="1700" b="0" i="0">
                <a:solidFill>
                  <a:srgbClr val="C8C8C8"/>
                </a:solidFill>
              </a:rPr>
              <a:t> y diferenciado del sector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2296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Alcance del proyecto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81328"/>
            <a:ext cx="1371600" cy="36576"/>
          </a:xfrm>
          <a:prstGeom prst="rect">
            <a:avLst/>
          </a:prstGeom>
          <a:solidFill>
            <a:srgbClr val="777777"/>
          </a:solidFill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8C8C8"/>
                </a:solidFill>
              </a:rPr>
              <a:t>  </a:t>
            </a:r>
            <a:r>
              <a:rPr sz="1700" b="1" i="1">
                <a:solidFill>
                  <a:srgbClr val="E8E8E8"/>
                </a:solidFill>
              </a:rPr>
              <a:t>4 módulos</a:t>
            </a:r>
            <a:r>
              <a:rPr sz="1700" b="0" i="0">
                <a:solidFill>
                  <a:srgbClr val="C8C8C8"/>
                </a:solidFill>
              </a:rPr>
              <a:t>: 2 de aduana (leyes, fracciones, códigos) + 2 de logística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85416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8C8C8"/>
                </a:solidFill>
              </a:rPr>
              <a:t>  </a:t>
            </a:r>
            <a:r>
              <a:rPr sz="1700" b="1" i="1">
                <a:solidFill>
                  <a:srgbClr val="E8E8E8"/>
                </a:solidFill>
              </a:rPr>
              <a:t>5-6 tipos de minijuegos</a:t>
            </a:r>
            <a:r>
              <a:rPr sz="1700" b="0" i="0">
                <a:solidFill>
                  <a:srgbClr val="C8C8C8"/>
                </a:solidFill>
              </a:rPr>
              <a:t> rotativos (opción múltiple, arrastrar, pares...)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7919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8C8C8"/>
                </a:solidFill>
              </a:rPr>
              <a:t>  </a:t>
            </a:r>
            <a:r>
              <a:rPr sz="1700" b="1" i="1">
                <a:solidFill>
                  <a:srgbClr val="E8E8E8"/>
                </a:solidFill>
              </a:rPr>
              <a:t>30 días de contenido</a:t>
            </a:r>
            <a:r>
              <a:rPr sz="1700" b="0" i="0">
                <a:solidFill>
                  <a:srgbClr val="C8C8C8"/>
                </a:solidFill>
              </a:rPr>
              <a:t> por módulo (~150 preguntas/mes)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7296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8C8C8"/>
                </a:solidFill>
              </a:rPr>
              <a:t>  Personajes únicos por módulo </a:t>
            </a:r>
            <a:r>
              <a:rPr sz="1700" b="1" i="1">
                <a:solidFill>
                  <a:srgbClr val="E8E8E8"/>
                </a:solidFill>
              </a:rPr>
              <a:t>generados con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66744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8C8C8"/>
                </a:solidFill>
              </a:rPr>
              <a:t>  Mecánicas de engagement: límite diario, cofres, </a:t>
            </a:r>
            <a:r>
              <a:rPr sz="1700" b="1" i="1">
                <a:solidFill>
                  <a:srgbClr val="E8E8E8"/>
                </a:solidFill>
              </a:rPr>
              <a:t>recompensas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8C8C8"/>
                </a:solidFill>
              </a:rPr>
              <a:t>  </a:t>
            </a:r>
            <a:r>
              <a:rPr sz="1700" b="1" i="1">
                <a:solidFill>
                  <a:srgbClr val="E8E8E8"/>
                </a:solidFill>
              </a:rPr>
              <a:t>Certificación curricular</a:t>
            </a:r>
            <a:r>
              <a:rPr sz="1700" b="0" i="0">
                <a:solidFill>
                  <a:srgbClr val="C8C8C8"/>
                </a:solidFill>
              </a:rPr>
              <a:t> al completar cada módulo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2296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Tecnología y enfoque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81328"/>
            <a:ext cx="1371600" cy="36576"/>
          </a:xfrm>
          <a:prstGeom prst="rect">
            <a:avLst/>
          </a:prstGeom>
          <a:solidFill>
            <a:srgbClr val="777777"/>
          </a:solidFill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8C8C8"/>
                </a:solidFill>
              </a:rPr>
              <a:t>  Frontend: </a:t>
            </a:r>
            <a:r>
              <a:rPr sz="1700" b="1" i="1">
                <a:solidFill>
                  <a:srgbClr val="E8E8E8"/>
                </a:solidFill>
              </a:rPr>
              <a:t>React Native</a:t>
            </a:r>
            <a:r>
              <a:rPr sz="1700" b="0" i="0">
                <a:solidFill>
                  <a:srgbClr val="C8C8C8"/>
                </a:solidFill>
              </a:rPr>
              <a:t> (iOS + Android desde un solo codebase)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85416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8C8C8"/>
                </a:solidFill>
              </a:rPr>
              <a:t>  Backend: </a:t>
            </a:r>
            <a:r>
              <a:rPr sz="1700" b="1" i="1">
                <a:solidFill>
                  <a:srgbClr val="E8E8E8"/>
                </a:solidFill>
              </a:rPr>
              <a:t>Node.js + PostgreSQL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7919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8C8C8"/>
                </a:solidFill>
              </a:rPr>
              <a:t>  Personajes: </a:t>
            </a:r>
            <a:r>
              <a:rPr sz="1700" b="1" i="1">
                <a:solidFill>
                  <a:srgbClr val="E8E8E8"/>
                </a:solidFill>
              </a:rPr>
              <a:t>GPT Image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7296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8C8C8"/>
                </a:solidFill>
              </a:rPr>
              <a:t>  Infraestructura: </a:t>
            </a:r>
            <a:r>
              <a:rPr sz="1700" b="1" i="1">
                <a:solidFill>
                  <a:srgbClr val="E8E8E8"/>
                </a:solidFill>
              </a:rPr>
              <a:t>AWS</a:t>
            </a:r>
            <a:r>
              <a:rPr sz="1700" b="0" i="0">
                <a:solidFill>
                  <a:srgbClr val="C8C8C8"/>
                </a:solidFill>
              </a:rPr>
              <a:t> escalable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66744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8C8C8"/>
                </a:solidFill>
              </a:rPr>
              <a:t>  Metodología: </a:t>
            </a:r>
            <a:r>
              <a:rPr sz="1700" b="1" i="1">
                <a:solidFill>
                  <a:srgbClr val="E8E8E8"/>
                </a:solidFill>
              </a:rPr>
              <a:t>2 fases</a:t>
            </a:r>
            <a:r>
              <a:rPr sz="1700" b="0" i="0">
                <a:solidFill>
                  <a:srgbClr val="C8C8C8"/>
                </a:solidFill>
              </a:rPr>
              <a:t> — arquitectura primero, diseño después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2296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Timeline estimado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08760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</a:rPr>
              <a:t>* Sujeto a revisión tras kick-off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96596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8C8C8"/>
                </a:solidFill>
              </a:rPr>
              <a:t>  </a:t>
            </a:r>
            <a:r>
              <a:rPr sz="1700" b="1" i="1">
                <a:solidFill>
                  <a:srgbClr val="E8E8E8"/>
                </a:solidFill>
              </a:rPr>
              <a:t>Fase 1</a:t>
            </a:r>
            <a:r>
              <a:rPr sz="1700" b="0" i="0">
                <a:solidFill>
                  <a:srgbClr val="C8C8C8"/>
                </a:solidFill>
              </a:rPr>
              <a:t> — Arquitectura y lógica completa: 3 semanas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59736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8C8C8"/>
                </a:solidFill>
              </a:rPr>
              <a:t>  </a:t>
            </a:r>
            <a:r>
              <a:rPr sz="1700" b="1" i="1">
                <a:solidFill>
                  <a:srgbClr val="E8E8E8"/>
                </a:solidFill>
              </a:rPr>
              <a:t>Fase 2</a:t>
            </a:r>
            <a:r>
              <a:rPr sz="1700" b="0" i="0">
                <a:solidFill>
                  <a:srgbClr val="C8C8C8"/>
                </a:solidFill>
              </a:rPr>
              <a:t> — Desarrollo de módulos y minijuegos (MVP): 5 semanas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5351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8C8C8"/>
                </a:solidFill>
              </a:rPr>
              <a:t>  </a:t>
            </a:r>
            <a:r>
              <a:rPr sz="1700" b="1" i="1">
                <a:solidFill>
                  <a:srgbClr val="E8E8E8"/>
                </a:solidFill>
              </a:rPr>
              <a:t>Fase 3</a:t>
            </a:r>
            <a:r>
              <a:rPr sz="1700" b="0" i="0">
                <a:solidFill>
                  <a:srgbClr val="C8C8C8"/>
                </a:solidFill>
              </a:rPr>
              <a:t> — Contenido, personajes IA y certificaciones: 3 semanas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4728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8C8C8"/>
                </a:solidFill>
              </a:rPr>
              <a:t>  </a:t>
            </a:r>
            <a:r>
              <a:rPr sz="1700" b="1" i="1">
                <a:solidFill>
                  <a:srgbClr val="E8E8E8"/>
                </a:solidFill>
              </a:rPr>
              <a:t>Fase 4</a:t>
            </a:r>
            <a:r>
              <a:rPr sz="1700" b="0" i="0">
                <a:solidFill>
                  <a:srgbClr val="C8C8C8"/>
                </a:solidFill>
              </a:rPr>
              <a:t> — QA, ajustes visuales y lanzamiento: 2 semanas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2296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Inversión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$149,000 MXN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92608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8C8C8"/>
                </a:solidFill>
              </a:rPr>
              <a:t>50% al inicio · 25% entrega Fase 1 · 25% al lanzamiento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22960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Próximos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81328"/>
            <a:ext cx="1371600" cy="36576"/>
          </a:xfrm>
          <a:prstGeom prst="rect">
            <a:avLst/>
          </a:prstGeom>
          <a:solidFill>
            <a:srgbClr val="777777"/>
          </a:solidFill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8C8C8"/>
                </a:solidFill>
              </a:rPr>
              <a:t>  </a:t>
            </a:r>
            <a:r>
              <a:rPr sz="1700" b="1" i="1">
                <a:solidFill>
                  <a:srgbClr val="E8E8E8"/>
                </a:solidFill>
              </a:rPr>
              <a:t>Definir estructura legal</a:t>
            </a:r>
            <a:r>
              <a:rPr sz="1700" b="0" i="0">
                <a:solidFill>
                  <a:srgbClr val="C8C8C8"/>
                </a:solidFill>
              </a:rPr>
              <a:t> (persona física vs moral) — esta semana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85416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8C8C8"/>
                </a:solidFill>
              </a:rPr>
              <a:t>  Agendar </a:t>
            </a:r>
            <a:r>
              <a:rPr sz="1700" b="1" i="1">
                <a:solidFill>
                  <a:srgbClr val="E8E8E8"/>
                </a:solidFill>
              </a:rPr>
              <a:t>reunión de kick-off</a:t>
            </a:r>
            <a:r>
              <a:rPr sz="1700" b="0" i="0">
                <a:solidFill>
                  <a:srgbClr val="C8C8C8"/>
                </a:solidFill>
              </a:rPr>
              <a:t> jueves-viernes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67919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8C8C8"/>
                </a:solidFill>
              </a:rPr>
              <a:t>  </a:t>
            </a:r>
            <a:r>
              <a:rPr sz="1700" b="1" i="1">
                <a:solidFill>
                  <a:srgbClr val="E8E8E8"/>
                </a:solidFill>
              </a:rPr>
              <a:t>Firma de acuerdo</a:t>
            </a:r>
            <a:r>
              <a:rPr sz="1700" b="0" i="0">
                <a:solidFill>
                  <a:srgbClr val="C8C8C8"/>
                </a:solidFill>
              </a:rPr>
              <a:t> e inicio de Fase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6344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77777"/>
                </a:solidFill>
              </a:rPr>
              <a:t>digitalcompass.ia@gmail.com  |  +52 (998) 145 2628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